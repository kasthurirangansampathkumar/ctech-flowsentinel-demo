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2E3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9659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FLOWSENTINEL AI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233172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Framework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61188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BFD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Gemini-powered agents covering ticket classification through final fix — one module per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BFD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agent, one shared model, one source of truth for this deck.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126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FA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dashboard/backend/ai_agents.py  ·  Model: gemini-2.5-flash  ·  DE On-Call Automation Framework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ticket moves through the framework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 below is one agent call. Nothing in between is scripted guesswork.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291840" cy="1051560"/>
          </a:xfrm>
          <a:prstGeom prst="roundRect">
            <a:avLst>
              <a:gd name="adj" fmla="val 6957"/>
            </a:avLst>
          </a:prstGeom>
          <a:solidFill>
            <a:srgbClr val="F3F7F7"/>
          </a:solidFill>
          <a:ln w="12700">
            <a:solidFill>
              <a:srgbClr val="DCE6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6916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2402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51960" y="1600200"/>
            <a:ext cx="3291840" cy="1051560"/>
          </a:xfrm>
          <a:prstGeom prst="roundRect">
            <a:avLst>
              <a:gd name="adj" fmla="val 6957"/>
            </a:avLst>
          </a:prstGeom>
          <a:solidFill>
            <a:srgbClr val="F3F7F7"/>
          </a:solidFill>
          <a:ln w="12700">
            <a:solidFill>
              <a:srgbClr val="DCE6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80560" y="16916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4480560" y="22402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model (gemini-2.5-flash)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863840" y="1600200"/>
            <a:ext cx="3291840" cy="1051560"/>
          </a:xfrm>
          <a:prstGeom prst="roundRect">
            <a:avLst>
              <a:gd name="adj" fmla="val 6957"/>
            </a:avLst>
          </a:prstGeom>
          <a:solidFill>
            <a:srgbClr val="F3F7F7"/>
          </a:solidFill>
          <a:ln w="12700">
            <a:solidFill>
              <a:srgbClr val="DCE6E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092440" y="16916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8092440" y="22402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stages: classify → act → apply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06324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EDF2F2"/>
          </a:solidFill>
          <a:ln w="15875">
            <a:solidFill>
              <a:srgbClr val="0B2E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3172968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Ticket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3483864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injection or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Projects sync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2971800" y="315468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B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3474720" y="306324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DDE7E8"/>
          </a:solidFill>
          <a:ln w="15875">
            <a:solidFill>
              <a:srgbClr val="0B2E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611880" y="3172968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Segment Agent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3611880" y="3483864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 into 1 of 14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309360" y="315468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B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8961120" y="228600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E1F3EF"/>
          </a:solidFill>
          <a:ln w="15875">
            <a:solidFill>
              <a:srgbClr val="0E6B4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098280" y="2395728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Fix Agent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9098280" y="2706624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Diagnoses + acts,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human step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961120" y="310896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FBEEDC"/>
          </a:solidFill>
          <a:ln w="15875">
            <a:solidFill>
              <a:srgbClr val="B36A0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098280" y="3218688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3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Agent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9098280" y="3529584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Diagnoses + drafts,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waits for approval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961120" y="393192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EEF0F0"/>
          </a:solidFill>
          <a:ln w="15875">
            <a:solidFill>
              <a:srgbClr val="8A8F8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098280" y="4041648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8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 (IAM/creds)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9098280" y="4352544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only — never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auto-remediated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11292840" y="237744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B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11292840" y="320040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B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11795760" y="228600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E1F3EF"/>
          </a:solidFill>
          <a:ln w="15875">
            <a:solidFill>
              <a:srgbClr val="02C39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1932920" y="2395728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11932920" y="2706624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log shows the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agent reasoning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1795760" y="3108960"/>
            <a:ext cx="2103120" cy="914400"/>
          </a:xfrm>
          <a:prstGeom prst="roundRect">
            <a:avLst>
              <a:gd name="adj" fmla="val 8000"/>
            </a:avLst>
          </a:prstGeom>
          <a:solidFill>
            <a:srgbClr val="FBEEDC"/>
          </a:solidFill>
          <a:ln w="15875">
            <a:solidFill>
              <a:srgbClr val="B36A0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1932920" y="321868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3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Approves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11932920" y="3529584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1-click on the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Board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1389888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B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9" name="Shape 37"/>
          <p:cNvSpPr/>
          <p:nvPr/>
        </p:nvSpPr>
        <p:spPr>
          <a:xfrm>
            <a:off x="14356080" y="310896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DDEEF0"/>
          </a:solidFill>
          <a:ln w="15875">
            <a:solidFill>
              <a:srgbClr val="028090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14493240" y="3218688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Agent</a:t>
            </a:r>
            <a:endParaRPr lang="en-US" sz="1250" dirty="0"/>
          </a:p>
        </p:txBody>
      </p:sp>
      <p:sp>
        <p:nvSpPr>
          <p:cNvPr id="41" name="Text 39"/>
          <p:cNvSpPr txBox="1"/>
          <p:nvPr/>
        </p:nvSpPr>
        <p:spPr>
          <a:xfrm>
            <a:off x="14493240" y="3529584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Mechanical execution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approved fix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640080" y="6172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boundary: the apply step never re-decides anything — it executes exactly what a human already approved.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read each agent slide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9728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B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the next 13 slides is generated from the same field set FlowSentinel's own /api/agents endpoint returns — the deck and the running system can't drift apart.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257800" cy="1417320"/>
          </a:xfrm>
          <a:prstGeom prst="roundRect">
            <a:avLst>
              <a:gd name="adj" fmla="val 4516"/>
            </a:avLst>
          </a:prstGeom>
          <a:solidFill>
            <a:srgbClr val="F3F7F7"/>
          </a:solidFill>
          <a:ln w="12700">
            <a:solidFill>
              <a:srgbClr val="DCE6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10312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441448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agent exists to do, in one sentence.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63640" y="1965960"/>
            <a:ext cx="5257800" cy="1417320"/>
          </a:xfrm>
          <a:prstGeom prst="roundRect">
            <a:avLst>
              <a:gd name="adj" fmla="val 4516"/>
            </a:avLst>
          </a:prstGeom>
          <a:solidFill>
            <a:srgbClr val="F3F7F7"/>
          </a:solidFill>
          <a:ln w="12700">
            <a:solidFill>
              <a:srgbClr val="DCE6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92240" y="210312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2441448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data handed into the prompt — ticket text, pipeline/table names.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520440"/>
            <a:ext cx="5257800" cy="1417320"/>
          </a:xfrm>
          <a:prstGeom prst="roundRect">
            <a:avLst>
              <a:gd name="adj" fmla="val 4516"/>
            </a:avLst>
          </a:prstGeom>
          <a:solidFill>
            <a:srgbClr val="F3F7F7"/>
          </a:solidFill>
          <a:ln w="12700">
            <a:solidFill>
              <a:srgbClr val="DCE6E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8680" y="365760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Data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3995928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deterministic check or calculation run BEFORE Gemini is asked to reason — so it narrates real signal, not invented numbers.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63640" y="3520440"/>
            <a:ext cx="5257800" cy="1417320"/>
          </a:xfrm>
          <a:prstGeom prst="roundRect">
            <a:avLst>
              <a:gd name="adj" fmla="val 4516"/>
            </a:avLst>
          </a:prstGeom>
          <a:solidFill>
            <a:srgbClr val="F3F7F7"/>
          </a:solidFill>
          <a:ln w="12700">
            <a:solidFill>
              <a:srgbClr val="DCE6E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92240" y="365760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Task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3995928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exact instruction given to Gemini.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5074920"/>
            <a:ext cx="5257800" cy="1417320"/>
          </a:xfrm>
          <a:prstGeom prst="roundRect">
            <a:avLst>
              <a:gd name="adj" fmla="val 4516"/>
            </a:avLst>
          </a:prstGeom>
          <a:solidFill>
            <a:srgbClr val="F3F7F7"/>
          </a:solidFill>
          <a:ln w="12700">
            <a:solidFill>
              <a:srgbClr val="DCE6E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8680" y="521208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5550408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to the ticket once the agent responds.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63640" y="5074920"/>
            <a:ext cx="5257800" cy="1417320"/>
          </a:xfrm>
          <a:prstGeom prst="roundRect">
            <a:avLst>
              <a:gd name="adj" fmla="val 4516"/>
            </a:avLst>
          </a:prstGeom>
          <a:solidFill>
            <a:srgbClr val="F3F7F7"/>
          </a:solidFill>
          <a:ln w="12700">
            <a:solidFill>
              <a:srgbClr val="DCE6E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92240" y="521208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492240" y="5550408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ticket log shows if Gemini or its credentials aren't reachable — the demo never goes blank.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63550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color key: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103120" y="6327648"/>
            <a:ext cx="1408176" cy="292608"/>
          </a:xfrm>
          <a:prstGeom prst="roundRect">
            <a:avLst>
              <a:gd name="adj" fmla="val 50000"/>
            </a:avLst>
          </a:prstGeom>
          <a:solidFill>
            <a:srgbClr val="DDE7E8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2103120" y="6327648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694176" y="6327648"/>
            <a:ext cx="1408176" cy="292608"/>
          </a:xfrm>
          <a:prstGeom prst="roundRect">
            <a:avLst>
              <a:gd name="adj" fmla="val 50000"/>
            </a:avLst>
          </a:prstGeom>
          <a:solidFill>
            <a:srgbClr val="E1F3E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3694176" y="6327648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Fix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285232" y="6327648"/>
            <a:ext cx="2340864" cy="292608"/>
          </a:xfrm>
          <a:prstGeom prst="roundRect">
            <a:avLst>
              <a:gd name="adj" fmla="val 50000"/>
            </a:avLst>
          </a:prstGeom>
          <a:solidFill>
            <a:srgbClr val="FBEEDC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285232" y="6327648"/>
            <a:ext cx="2340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3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Recommendation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658368" cy="658368"/>
          </a:xfrm>
          <a:prstGeom prst="roundRect">
            <a:avLst>
              <a:gd name="adj" fmla="val 19444"/>
            </a:avLst>
          </a:prstGeom>
          <a:solidFill>
            <a:srgbClr val="DDE7E8"/>
          </a:solidFill>
          <a:ln w="12700">
            <a:solidFill>
              <a:srgbClr val="0B2E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🧭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45720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Issue Segment Agent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1463040" y="987552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DDE7E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463040" y="987552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9052560" y="10241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1 of 13  ·  gemini-2.5-flash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" y="1444752"/>
            <a:ext cx="10881360" cy="0"/>
          </a:xfrm>
          <a:prstGeom prst="line">
            <a:avLst/>
          </a:prstGeom>
          <a:noFill/>
          <a:ln w="12700">
            <a:solidFill>
              <a:srgbClr val="DCE6E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162763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every new ticket's free text and routes it to one of the 14 recognized failure categories, determining whether it goes to the Autonomous, AI-Assisted, or Advisory queue.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0080" y="2468880"/>
            <a:ext cx="5257800" cy="1783080"/>
          </a:xfrm>
          <a:prstGeom prst="roundRect">
            <a:avLst>
              <a:gd name="adj" fmla="val 3590"/>
            </a:avLst>
          </a:prstGeom>
          <a:solidFill>
            <a:srgbClr val="F3F7F7"/>
          </a:solidFill>
          <a:ln w="12700">
            <a:solidFill>
              <a:srgbClr val="DCE6E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1248" y="2596896"/>
            <a:ext cx="4855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841248" y="2889504"/>
            <a:ext cx="48554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Ticket title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Ticket description (vendor incident text, or a synced GitHub issue body)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63640" y="2468880"/>
            <a:ext cx="5257800" cy="1783080"/>
          </a:xfrm>
          <a:prstGeom prst="roundRect">
            <a:avLst>
              <a:gd name="adj" fmla="val 3590"/>
            </a:avLst>
          </a:prstGeom>
          <a:solidFill>
            <a:srgbClr val="F3F7F7"/>
          </a:solidFill>
          <a:ln w="12700">
            <a:solidFill>
              <a:srgbClr val="DCE6E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64808" y="2596896"/>
            <a:ext cx="4855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TASK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6464808" y="2889504"/>
            <a:ext cx="48554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the incident text into exactly one of the 14 category keys.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434840"/>
            <a:ext cx="5257800" cy="1783080"/>
          </a:xfrm>
          <a:prstGeom prst="roundRect">
            <a:avLst>
              <a:gd name="adj" fmla="val 3590"/>
            </a:avLst>
          </a:prstGeom>
          <a:solidFill>
            <a:srgbClr val="F3F7F7"/>
          </a:solidFill>
          <a:ln w="12700">
            <a:solidFill>
              <a:srgbClr val="DCE6E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41248" y="4562856"/>
            <a:ext cx="4855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DATA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841248" y="4855464"/>
            <a:ext cx="48554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-- this is the first agent in the pipeline; nothing has been diagnosed yet.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63640" y="4434840"/>
            <a:ext cx="5257800" cy="1783080"/>
          </a:xfrm>
          <a:prstGeom prst="roundRect">
            <a:avLst>
              <a:gd name="adj" fmla="val 3590"/>
            </a:avLst>
          </a:prstGeom>
          <a:solidFill>
            <a:srgbClr val="F3F7F7"/>
          </a:solidFill>
          <a:ln w="12700">
            <a:solidFill>
              <a:srgbClr val="DCE6E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64808" y="4562856"/>
            <a:ext cx="4855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→ FALLBACK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6464808" y="4855464"/>
            <a:ext cx="48554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A category key + confidence score, which sets the ticket's automation level and queue.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Fallback: Deterministic keyword scorer over each category's keyword list -- same categories, lower confidence, zero cloud dependency.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658368" cy="658368"/>
          </a:xfrm>
          <a:prstGeom prst="roundRect">
            <a:avLst>
              <a:gd name="adj" fmla="val 19444"/>
            </a:avLst>
          </a:prstGeom>
          <a:solidFill>
            <a:srgbClr val="E1F3EF"/>
          </a:solidFill>
          <a:ln w="12700">
            <a:solidFill>
              <a:srgbClr val="0E6B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📡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45720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 Feed Sentinel Agent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1463040" y="987552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E1F3E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463040" y="987552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0E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FIX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9052560" y="10241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2 of 13  ·  gemini-2.5-flash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" y="1444752"/>
            <a:ext cx="10881360" cy="0"/>
          </a:xfrm>
          <a:prstGeom prst="line">
            <a:avLst/>
          </a:prstGeom>
          <a:noFill/>
          <a:ln w="12700">
            <a:solidFill>
              <a:srgbClr val="DCE6E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162763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a vendor file/stream that missed its SLA arrival window and pauses the downstream DAG before it processes partial or empty data.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0080" y="2468880"/>
            <a:ext cx="5257800" cy="1783080"/>
          </a:xfrm>
          <a:prstGeom prst="roundRect">
            <a:avLst>
              <a:gd name="adj" fmla="val 3590"/>
            </a:avLst>
          </a:prstGeom>
          <a:solidFill>
            <a:srgbClr val="F3F7F7"/>
          </a:solidFill>
          <a:ln w="12700">
            <a:solidFill>
              <a:srgbClr val="DCE6E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1248" y="2596896"/>
            <a:ext cx="4855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841248" y="2889504"/>
            <a:ext cx="48554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Ticket description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Pipeline name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63640" y="2468880"/>
            <a:ext cx="5257800" cy="1783080"/>
          </a:xfrm>
          <a:prstGeom prst="roundRect">
            <a:avLst>
              <a:gd name="adj" fmla="val 3590"/>
            </a:avLst>
          </a:prstGeom>
          <a:solidFill>
            <a:srgbClr val="F3F7F7"/>
          </a:solidFill>
          <a:ln w="12700">
            <a:solidFill>
              <a:srgbClr val="DCE6E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64808" y="2596896"/>
            <a:ext cx="4855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TASK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6464808" y="2889504"/>
            <a:ext cx="48554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final incident-resolution note given the real feed-check result.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434840"/>
            <a:ext cx="5257800" cy="1783080"/>
          </a:xfrm>
          <a:prstGeom prst="roundRect">
            <a:avLst>
              <a:gd name="adj" fmla="val 3590"/>
            </a:avLst>
          </a:prstGeom>
          <a:solidFill>
            <a:srgbClr val="F3F7F7"/>
          </a:solidFill>
          <a:ln w="12700">
            <a:solidFill>
              <a:srgbClr val="DCE6E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41248" y="4562856"/>
            <a:ext cx="4855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DATA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841248" y="4855464"/>
            <a:ext cx="48554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GCS existence check against the configured landing bucket (feed_sentinel.py) -- Gemini narrates the result, it does not decide file presence itself.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63640" y="4434840"/>
            <a:ext cx="5257800" cy="1783080"/>
          </a:xfrm>
          <a:prstGeom prst="roundRect">
            <a:avLst>
              <a:gd name="adj" fmla="val 3590"/>
            </a:avLst>
          </a:prstGeom>
          <a:solidFill>
            <a:srgbClr val="F3F7F7"/>
          </a:solidFill>
          <a:ln w="12700">
            <a:solidFill>
              <a:srgbClr val="DCE6E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64808" y="4562856"/>
            <a:ext cx="4855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→ FALLBACK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6464808" y="4855464"/>
            <a:ext cx="48554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A resolution note appended to the ticket log; ticket auto-resolves.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Fallback: The raw feed-check script output is used verbatim as the ticket log entry.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658368" cy="658368"/>
          </a:xfrm>
          <a:prstGeom prst="roundRect">
            <a:avLst>
              <a:gd name="adj" fmla="val 19444"/>
            </a:avLst>
          </a:prstGeom>
          <a:solidFill>
            <a:srgbClr val="E1F3EF"/>
          </a:solidFill>
          <a:ln w="12700">
            <a:solidFill>
              <a:srgbClr val="0E6B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🌐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45720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Health Agent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1463040" y="987552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E1F3E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463040" y="987552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0E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FIX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9052560" y="10241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3 of 13  ·  gemini-2.5-flash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" y="1444752"/>
            <a:ext cx="10881360" cy="0"/>
          </a:xfrm>
          <a:prstGeom prst="line">
            <a:avLst/>
          </a:prstGeom>
          <a:noFill/>
          <a:ln w="12700">
            <a:solidFill>
              <a:srgbClr val="DCE6E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162763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 third-party API failures as transient (rate-limit/timeout) vs. persistent (expired key/outage) and retries transient failures with backoff.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0080" y="2468880"/>
            <a:ext cx="5257800" cy="1783080"/>
          </a:xfrm>
          <a:prstGeom prst="roundRect">
            <a:avLst>
              <a:gd name="adj" fmla="val 3590"/>
            </a:avLst>
          </a:prstGeom>
          <a:solidFill>
            <a:srgbClr val="F3F7F7"/>
          </a:solidFill>
          <a:ln w="12700">
            <a:solidFill>
              <a:srgbClr val="DCE6E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1248" y="2596896"/>
            <a:ext cx="4855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841248" y="2889504"/>
            <a:ext cx="48554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Ticket description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Pipeline name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63640" y="2468880"/>
            <a:ext cx="5257800" cy="1783080"/>
          </a:xfrm>
          <a:prstGeom prst="roundRect">
            <a:avLst>
              <a:gd name="adj" fmla="val 3590"/>
            </a:avLst>
          </a:prstGeom>
          <a:solidFill>
            <a:srgbClr val="F3F7F7"/>
          </a:solidFill>
          <a:ln w="12700">
            <a:solidFill>
              <a:srgbClr val="DCE6E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64808" y="2596896"/>
            <a:ext cx="4855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TASK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6464808" y="2889504"/>
            <a:ext cx="48554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retry-vs-escalate and narrate the retry sequence and outcome.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434840"/>
            <a:ext cx="5257800" cy="1783080"/>
          </a:xfrm>
          <a:prstGeom prst="roundRect">
            <a:avLst>
              <a:gd name="adj" fmla="val 3590"/>
            </a:avLst>
          </a:prstGeom>
          <a:solidFill>
            <a:srgbClr val="F3F7F7"/>
          </a:solidFill>
          <a:ln w="12700">
            <a:solidFill>
              <a:srgbClr val="DCE6E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41248" y="4562856"/>
            <a:ext cx="4855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DATA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841248" y="4855464"/>
            <a:ext cx="48554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yet (Phase 2 of the automation playbook adds live endpoint health checks).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63640" y="4434840"/>
            <a:ext cx="5257800" cy="1783080"/>
          </a:xfrm>
          <a:prstGeom prst="roundRect">
            <a:avLst>
              <a:gd name="adj" fmla="val 3590"/>
            </a:avLst>
          </a:prstGeom>
          <a:solidFill>
            <a:srgbClr val="F3F7F7"/>
          </a:solidFill>
          <a:ln w="12700">
            <a:solidFill>
              <a:srgbClr val="DCE6E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64808" y="4562856"/>
            <a:ext cx="4855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→ FALLBACK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6464808" y="4855464"/>
            <a:ext cx="48554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A resolution note; ticket auto-resolves.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Fallback: A fixed 3-retry exponential-backoff narrative.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658368" cy="658368"/>
          </a:xfrm>
          <a:prstGeom prst="roundRect">
            <a:avLst>
              <a:gd name="adj" fmla="val 19444"/>
            </a:avLst>
          </a:prstGeom>
          <a:solidFill>
            <a:srgbClr val="E1F3EF"/>
          </a:solidFill>
          <a:ln w="12700">
            <a:solidFill>
              <a:srgbClr val="0E6B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🫨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45720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Orchestration Watchdog Agent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1463040" y="987552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E1F3E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463040" y="987552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0E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FIX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9052560" y="10241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4 of 13  ·  gemini-2.5-flash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" y="1444752"/>
            <a:ext cx="10881360" cy="0"/>
          </a:xfrm>
          <a:prstGeom prst="line">
            <a:avLst/>
          </a:prstGeom>
          <a:noFill/>
          <a:ln w="12700">
            <a:solidFill>
              <a:srgbClr val="DCE6E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162763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Diagnoses Airflow/Dagster/Prefect stalls (deadlocks, evicted workers, zombie tasks) and clears them without a scheduler restart.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0080" y="2468880"/>
            <a:ext cx="5257800" cy="1783080"/>
          </a:xfrm>
          <a:prstGeom prst="roundRect">
            <a:avLst>
              <a:gd name="adj" fmla="val 3590"/>
            </a:avLst>
          </a:prstGeom>
          <a:solidFill>
            <a:srgbClr val="F3F7F7"/>
          </a:solidFill>
          <a:ln w="12700">
            <a:solidFill>
              <a:srgbClr val="DCE6E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1248" y="2596896"/>
            <a:ext cx="4855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841248" y="2889504"/>
            <a:ext cx="48554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Ticket description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Pipeline/DAG name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63640" y="2468880"/>
            <a:ext cx="5257800" cy="1783080"/>
          </a:xfrm>
          <a:prstGeom prst="roundRect">
            <a:avLst>
              <a:gd name="adj" fmla="val 3590"/>
            </a:avLst>
          </a:prstGeom>
          <a:solidFill>
            <a:srgbClr val="F3F7F7"/>
          </a:solidFill>
          <a:ln w="12700">
            <a:solidFill>
              <a:srgbClr val="DCE6E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64808" y="2596896"/>
            <a:ext cx="4855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TASK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6464808" y="2889504"/>
            <a:ext cx="48554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the stall signature and narrate the automated remediation performed.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434840"/>
            <a:ext cx="5257800" cy="1783080"/>
          </a:xfrm>
          <a:prstGeom prst="roundRect">
            <a:avLst>
              <a:gd name="adj" fmla="val 3590"/>
            </a:avLst>
          </a:prstGeom>
          <a:solidFill>
            <a:srgbClr val="F3F7F7"/>
          </a:solidFill>
          <a:ln w="12700">
            <a:solidFill>
              <a:srgbClr val="DCE6E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41248" y="4562856"/>
            <a:ext cx="4855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DATA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841248" y="4855464"/>
            <a:ext cx="48554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yet (Phase 2 adds live scheduler/worker health metrics).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63640" y="4434840"/>
            <a:ext cx="5257800" cy="1783080"/>
          </a:xfrm>
          <a:prstGeom prst="roundRect">
            <a:avLst>
              <a:gd name="adj" fmla="val 3590"/>
            </a:avLst>
          </a:prstGeom>
          <a:solidFill>
            <a:srgbClr val="F3F7F7"/>
          </a:solidFill>
          <a:ln w="12700">
            <a:solidFill>
              <a:srgbClr val="DCE6E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64808" y="4562856"/>
            <a:ext cx="4855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→ FALLBACK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6464808" y="4855464"/>
            <a:ext cx="48554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A resolution note; ticket auto-resolves.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Fallback: A fixed zombie-task-clear narrative.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658368" cy="658368"/>
          </a:xfrm>
          <a:prstGeom prst="roundRect">
            <a:avLst>
              <a:gd name="adj" fmla="val 19444"/>
            </a:avLst>
          </a:prstGeom>
          <a:solidFill>
            <a:srgbClr val="E1F3EF"/>
          </a:solidFill>
          <a:ln w="12700">
            <a:solidFill>
              <a:srgbClr val="0E6B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🫩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45720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 Doctor Agent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1463040" y="987552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E1F3E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463040" y="987552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0E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FIX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9052560" y="10241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5 of 13  ·  gemini-2.5-flash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" y="1444752"/>
            <a:ext cx="10881360" cy="0"/>
          </a:xfrm>
          <a:prstGeom prst="line">
            <a:avLst/>
          </a:prstGeom>
          <a:noFill/>
          <a:ln w="12700">
            <a:solidFill>
              <a:srgbClr val="DCE6E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162763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Watches warehouse queries for lock contention and kills anything past a safe runtime threshold, notifying the query owner with the likely cause.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0080" y="2468880"/>
            <a:ext cx="5257800" cy="1783080"/>
          </a:xfrm>
          <a:prstGeom prst="roundRect">
            <a:avLst>
              <a:gd name="adj" fmla="val 3590"/>
            </a:avLst>
          </a:prstGeom>
          <a:solidFill>
            <a:srgbClr val="F3F7F7"/>
          </a:solidFill>
          <a:ln w="12700">
            <a:solidFill>
              <a:srgbClr val="DCE6E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1248" y="2596896"/>
            <a:ext cx="4855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841248" y="2889504"/>
            <a:ext cx="48554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Ticket description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Table name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63640" y="2468880"/>
            <a:ext cx="5257800" cy="1783080"/>
          </a:xfrm>
          <a:prstGeom prst="roundRect">
            <a:avLst>
              <a:gd name="adj" fmla="val 3590"/>
            </a:avLst>
          </a:prstGeom>
          <a:solidFill>
            <a:srgbClr val="F3F7F7"/>
          </a:solidFill>
          <a:ln w="12700">
            <a:solidFill>
              <a:srgbClr val="DCE6E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64808" y="2596896"/>
            <a:ext cx="4855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TASK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6464808" y="2889504"/>
            <a:ext cx="48554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the likely query-plan issue and narrate killing the query.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434840"/>
            <a:ext cx="5257800" cy="1783080"/>
          </a:xfrm>
          <a:prstGeom prst="roundRect">
            <a:avLst>
              <a:gd name="adj" fmla="val 3590"/>
            </a:avLst>
          </a:prstGeom>
          <a:solidFill>
            <a:srgbClr val="F3F7F7"/>
          </a:solidFill>
          <a:ln w="12700">
            <a:solidFill>
              <a:srgbClr val="DCE6E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41248" y="4562856"/>
            <a:ext cx="4855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DATA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841248" y="4855464"/>
            <a:ext cx="48554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yet (Phase 2 adds live BigQuery/Snowflake query-plan reads).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63640" y="4434840"/>
            <a:ext cx="5257800" cy="1783080"/>
          </a:xfrm>
          <a:prstGeom prst="roundRect">
            <a:avLst>
              <a:gd name="adj" fmla="val 3590"/>
            </a:avLst>
          </a:prstGeom>
          <a:solidFill>
            <a:srgbClr val="F3F7F7"/>
          </a:solidFill>
          <a:ln w="12700">
            <a:solidFill>
              <a:srgbClr val="DCE6E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64808" y="4562856"/>
            <a:ext cx="4855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→ FALLBACK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6464808" y="4855464"/>
            <a:ext cx="48554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A resolution note; ticket auto-resolves.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Fallback: A fixed missing-partition-filter narrative.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658368" cy="658368"/>
          </a:xfrm>
          <a:prstGeom prst="roundRect">
            <a:avLst>
              <a:gd name="adj" fmla="val 19444"/>
            </a:avLst>
          </a:prstGeom>
          <a:solidFill>
            <a:srgbClr val="E1F3EF"/>
          </a:solidFill>
          <a:ln w="12700">
            <a:solidFill>
              <a:srgbClr val="0E6B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🔍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45720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Observability Agent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1463040" y="987552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E1F3E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463040" y="987552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0E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FIX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9052560" y="10241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6 of 13  ·  gemini-2.5-flash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" y="1444752"/>
            <a:ext cx="10881360" cy="0"/>
          </a:xfrm>
          <a:prstGeom prst="line">
            <a:avLst/>
          </a:prstGeom>
          <a:noFill/>
          <a:ln w="12700">
            <a:solidFill>
              <a:srgbClr val="DCE6E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162763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Watches row-count and value-distribution baselines per table per run to catch corruption that finished 'successfully' but is wrong -- the case no dbt test caught.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0080" y="2468880"/>
            <a:ext cx="5257800" cy="1783080"/>
          </a:xfrm>
          <a:prstGeom prst="roundRect">
            <a:avLst>
              <a:gd name="adj" fmla="val 3590"/>
            </a:avLst>
          </a:prstGeom>
          <a:solidFill>
            <a:srgbClr val="F3F7F7"/>
          </a:solidFill>
          <a:ln w="12700">
            <a:solidFill>
              <a:srgbClr val="DCE6E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1248" y="2596896"/>
            <a:ext cx="4855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841248" y="2889504"/>
            <a:ext cx="48554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Ticket description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Table name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63640" y="2468880"/>
            <a:ext cx="5257800" cy="1783080"/>
          </a:xfrm>
          <a:prstGeom prst="roundRect">
            <a:avLst>
              <a:gd name="adj" fmla="val 3590"/>
            </a:avLst>
          </a:prstGeom>
          <a:solidFill>
            <a:srgbClr val="F3F7F7"/>
          </a:solidFill>
          <a:ln w="12700">
            <a:solidFill>
              <a:srgbClr val="DCE6E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64808" y="2596896"/>
            <a:ext cx="4855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TASK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6464808" y="2889504"/>
            <a:ext cx="48554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the anomaly and narrate quarantining the affected partition.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434840"/>
            <a:ext cx="5257800" cy="1783080"/>
          </a:xfrm>
          <a:prstGeom prst="roundRect">
            <a:avLst>
              <a:gd name="adj" fmla="val 3590"/>
            </a:avLst>
          </a:prstGeom>
          <a:solidFill>
            <a:srgbClr val="F3F7F7"/>
          </a:solidFill>
          <a:ln w="12700">
            <a:solidFill>
              <a:srgbClr val="DCE6E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41248" y="4562856"/>
            <a:ext cx="4855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DATA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841248" y="4855464"/>
            <a:ext cx="48554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yet (Phase 2 adds a standing row-count/distribution baseline store).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63640" y="4434840"/>
            <a:ext cx="5257800" cy="1783080"/>
          </a:xfrm>
          <a:prstGeom prst="roundRect">
            <a:avLst>
              <a:gd name="adj" fmla="val 3590"/>
            </a:avLst>
          </a:prstGeom>
          <a:solidFill>
            <a:srgbClr val="F3F7F7"/>
          </a:solidFill>
          <a:ln w="12700">
            <a:solidFill>
              <a:srgbClr val="DCE6E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64808" y="4562856"/>
            <a:ext cx="4855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→ FALLBACK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6464808" y="4855464"/>
            <a:ext cx="48554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A resolution note; ticket auto-resolves (root cause still needs a human look).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Fallback: A fixed row-count-anomaly narrative.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658368" cy="658368"/>
          </a:xfrm>
          <a:prstGeom prst="roundRect">
            <a:avLst>
              <a:gd name="adj" fmla="val 19444"/>
            </a:avLst>
          </a:prstGeom>
          <a:solidFill>
            <a:srgbClr val="E1F3EF"/>
          </a:solidFill>
          <a:ln w="12700">
            <a:solidFill>
              <a:srgbClr val="0E6B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🔌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45720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 Health Agent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1463040" y="987552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E1F3E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463040" y="987552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0E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FIX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9052560" y="10241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7 of 13  ·  gemini-2.5-flash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" y="1444752"/>
            <a:ext cx="10881360" cy="0"/>
          </a:xfrm>
          <a:prstGeom prst="line">
            <a:avLst/>
          </a:prstGeom>
          <a:noFill/>
          <a:ln w="12700">
            <a:solidFill>
              <a:srgbClr val="DCE6E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162763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Watches database connection pool utilization and circuit-breaks the lowest-priority consumer before the pool fully exhausts.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0080" y="2468880"/>
            <a:ext cx="5257800" cy="1783080"/>
          </a:xfrm>
          <a:prstGeom prst="roundRect">
            <a:avLst>
              <a:gd name="adj" fmla="val 3590"/>
            </a:avLst>
          </a:prstGeom>
          <a:solidFill>
            <a:srgbClr val="F3F7F7"/>
          </a:solidFill>
          <a:ln w="12700">
            <a:solidFill>
              <a:srgbClr val="DCE6E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1248" y="2596896"/>
            <a:ext cx="4855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841248" y="2889504"/>
            <a:ext cx="48554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Ticket description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63640" y="2468880"/>
            <a:ext cx="5257800" cy="1783080"/>
          </a:xfrm>
          <a:prstGeom prst="roundRect">
            <a:avLst>
              <a:gd name="adj" fmla="val 3590"/>
            </a:avLst>
          </a:prstGeom>
          <a:solidFill>
            <a:srgbClr val="F3F7F7"/>
          </a:solidFill>
          <a:ln w="12700">
            <a:solidFill>
              <a:srgbClr val="DCE6E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64808" y="2596896"/>
            <a:ext cx="4855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TASK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6464808" y="2889504"/>
            <a:ext cx="48554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the saturation source and narrate the circuit-break action.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434840"/>
            <a:ext cx="5257800" cy="1783080"/>
          </a:xfrm>
          <a:prstGeom prst="roundRect">
            <a:avLst>
              <a:gd name="adj" fmla="val 3590"/>
            </a:avLst>
          </a:prstGeom>
          <a:solidFill>
            <a:srgbClr val="F3F7F7"/>
          </a:solidFill>
          <a:ln w="12700">
            <a:solidFill>
              <a:srgbClr val="DCE6E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41248" y="4562856"/>
            <a:ext cx="4855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DATA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841248" y="4855464"/>
            <a:ext cx="48554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yet (Phase 2 adds live Cloud Monitoring metric reads).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63640" y="4434840"/>
            <a:ext cx="5257800" cy="1783080"/>
          </a:xfrm>
          <a:prstGeom prst="roundRect">
            <a:avLst>
              <a:gd name="adj" fmla="val 3590"/>
            </a:avLst>
          </a:prstGeom>
          <a:solidFill>
            <a:srgbClr val="F3F7F7"/>
          </a:solidFill>
          <a:ln w="12700">
            <a:solidFill>
              <a:srgbClr val="DCE6E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64808" y="4562856"/>
            <a:ext cx="4855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→ FALLBACK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6464808" y="4855464"/>
            <a:ext cx="48554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A resolution note; ticket auto-resolves.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Fallback: A fixed pool-saturation narrative.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658368" cy="658368"/>
          </a:xfrm>
          <a:prstGeom prst="roundRect">
            <a:avLst>
              <a:gd name="adj" fmla="val 19444"/>
            </a:avLst>
          </a:prstGeom>
          <a:solidFill>
            <a:srgbClr val="E1F3EF"/>
          </a:solidFill>
          <a:ln w="12700">
            <a:solidFill>
              <a:srgbClr val="0E6B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45720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Capacity Forecaster Agent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1463040" y="987552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E1F3E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463040" y="987552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0E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FIX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9052560" y="10241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8 of 13  ·  gemini-2.5-flash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" y="1444752"/>
            <a:ext cx="10881360" cy="0"/>
          </a:xfrm>
          <a:prstGeom prst="line">
            <a:avLst/>
          </a:prstGeom>
          <a:noFill/>
          <a:ln w="12700">
            <a:solidFill>
              <a:srgbClr val="DCE6E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162763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storage/slot usage trends and defers low-priority load before a hard quota cap is hit.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0080" y="2468880"/>
            <a:ext cx="5257800" cy="1783080"/>
          </a:xfrm>
          <a:prstGeom prst="roundRect">
            <a:avLst>
              <a:gd name="adj" fmla="val 3590"/>
            </a:avLst>
          </a:prstGeom>
          <a:solidFill>
            <a:srgbClr val="F3F7F7"/>
          </a:solidFill>
          <a:ln w="12700">
            <a:solidFill>
              <a:srgbClr val="DCE6E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1248" y="2596896"/>
            <a:ext cx="4855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841248" y="2889504"/>
            <a:ext cx="48554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Ticket description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63640" y="2468880"/>
            <a:ext cx="5257800" cy="1783080"/>
          </a:xfrm>
          <a:prstGeom prst="roundRect">
            <a:avLst>
              <a:gd name="adj" fmla="val 3590"/>
            </a:avLst>
          </a:prstGeom>
          <a:solidFill>
            <a:srgbClr val="F3F7F7"/>
          </a:solidFill>
          <a:ln w="12700">
            <a:solidFill>
              <a:srgbClr val="DCE6E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64808" y="2596896"/>
            <a:ext cx="4855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TASK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6464808" y="2889504"/>
            <a:ext cx="48554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the capacity trend and narrate deferring a job to relieve pressure.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434840"/>
            <a:ext cx="5257800" cy="1783080"/>
          </a:xfrm>
          <a:prstGeom prst="roundRect">
            <a:avLst>
              <a:gd name="adj" fmla="val 3590"/>
            </a:avLst>
          </a:prstGeom>
          <a:solidFill>
            <a:srgbClr val="F3F7F7"/>
          </a:solidFill>
          <a:ln w="12700">
            <a:solidFill>
              <a:srgbClr val="DCE6E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41248" y="4562856"/>
            <a:ext cx="4855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DATA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841248" y="4855464"/>
            <a:ext cx="48554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yet (Phase 2 adds live usage-trend forecasting).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63640" y="4434840"/>
            <a:ext cx="5257800" cy="1783080"/>
          </a:xfrm>
          <a:prstGeom prst="roundRect">
            <a:avLst>
              <a:gd name="adj" fmla="val 3590"/>
            </a:avLst>
          </a:prstGeom>
          <a:solidFill>
            <a:srgbClr val="F3F7F7"/>
          </a:solidFill>
          <a:ln w="12700">
            <a:solidFill>
              <a:srgbClr val="DCE6E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64808" y="4562856"/>
            <a:ext cx="4855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→ FALLBACK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6464808" y="4855464"/>
            <a:ext cx="48554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A resolution note; ticket auto-resolves.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Fallback: A fixed capacity-pressure narrative.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658368" cy="658368"/>
          </a:xfrm>
          <a:prstGeom prst="roundRect">
            <a:avLst>
              <a:gd name="adj" fmla="val 19444"/>
            </a:avLst>
          </a:prstGeom>
          <a:solidFill>
            <a:srgbClr val="E1F3EF"/>
          </a:solidFill>
          <a:ln w="12700">
            <a:solidFill>
              <a:srgbClr val="0E6B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⏱️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45720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Pace Predictor Agent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1463040" y="987552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E1F3E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463040" y="987552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0E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FIX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9052560" y="10241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9 of 13  ·  gemini-2.5-flash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" y="1444752"/>
            <a:ext cx="10881360" cy="0"/>
          </a:xfrm>
          <a:prstGeom prst="line">
            <a:avLst/>
          </a:prstGeom>
          <a:noFill/>
          <a:ln w="12700">
            <a:solidFill>
              <a:srgbClr val="DCE6E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162763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current batch progress against historical run-duration distributions to alert on-call hours before an SLA is actually missed, not after.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0080" y="2468880"/>
            <a:ext cx="5257800" cy="1783080"/>
          </a:xfrm>
          <a:prstGeom prst="roundRect">
            <a:avLst>
              <a:gd name="adj" fmla="val 3590"/>
            </a:avLst>
          </a:prstGeom>
          <a:solidFill>
            <a:srgbClr val="F3F7F7"/>
          </a:solidFill>
          <a:ln w="12700">
            <a:solidFill>
              <a:srgbClr val="DCE6E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1248" y="2596896"/>
            <a:ext cx="4855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841248" y="2889504"/>
            <a:ext cx="48554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Ticket description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Pipeline name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63640" y="2468880"/>
            <a:ext cx="5257800" cy="1783080"/>
          </a:xfrm>
          <a:prstGeom prst="roundRect">
            <a:avLst>
              <a:gd name="adj" fmla="val 3590"/>
            </a:avLst>
          </a:prstGeom>
          <a:solidFill>
            <a:srgbClr val="F3F7F7"/>
          </a:solidFill>
          <a:ln w="12700">
            <a:solidFill>
              <a:srgbClr val="DCE6E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64808" y="2596896"/>
            <a:ext cx="4855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TASK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6464808" y="2889504"/>
            <a:ext cx="48554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the pace shortfall and narrate the escalation with a specific time margin.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434840"/>
            <a:ext cx="5257800" cy="1783080"/>
          </a:xfrm>
          <a:prstGeom prst="roundRect">
            <a:avLst>
              <a:gd name="adj" fmla="val 3590"/>
            </a:avLst>
          </a:prstGeom>
          <a:solidFill>
            <a:srgbClr val="F3F7F7"/>
          </a:solidFill>
          <a:ln w="12700">
            <a:solidFill>
              <a:srgbClr val="DCE6E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41248" y="4562856"/>
            <a:ext cx="4855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DATA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841248" y="4855464"/>
            <a:ext cx="48554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yet (Phase 2 adds live run-duration history).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63640" y="4434840"/>
            <a:ext cx="5257800" cy="1783080"/>
          </a:xfrm>
          <a:prstGeom prst="roundRect">
            <a:avLst>
              <a:gd name="adj" fmla="val 3590"/>
            </a:avLst>
          </a:prstGeom>
          <a:solidFill>
            <a:srgbClr val="F3F7F7"/>
          </a:solidFill>
          <a:ln w="12700">
            <a:solidFill>
              <a:srgbClr val="DCE6E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64808" y="4562856"/>
            <a:ext cx="4855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→ FALLBACK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6464808" y="4855464"/>
            <a:ext cx="48554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A resolution note (escalation alert); ticket auto-resolves.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Fallback: A fixed pace-shortfall narrative.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658368" cy="658368"/>
          </a:xfrm>
          <a:prstGeom prst="roundRect">
            <a:avLst>
              <a:gd name="adj" fmla="val 19444"/>
            </a:avLst>
          </a:prstGeom>
          <a:solidFill>
            <a:srgbClr val="FBEEDC"/>
          </a:solidFill>
          <a:ln w="12700">
            <a:solidFill>
              <a:srgbClr val="B36A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🤖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45720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Schema Drift Repair Agent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1463040" y="987552"/>
            <a:ext cx="2834640" cy="310896"/>
          </a:xfrm>
          <a:prstGeom prst="roundRect">
            <a:avLst>
              <a:gd name="adj" fmla="val 50000"/>
            </a:avLst>
          </a:prstGeom>
          <a:solidFill>
            <a:srgbClr val="FBEED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463040" y="987552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B3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RECOMMENDATION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9052560" y="10241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10 of 13  ·  gemini-2.5-flash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" y="1444752"/>
            <a:ext cx="10881360" cy="0"/>
          </a:xfrm>
          <a:prstGeom prst="line">
            <a:avLst/>
          </a:prstGeom>
          <a:noFill/>
          <a:ln w="12700">
            <a:solidFill>
              <a:srgbClr val="DCE6E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162763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Diagnoses an upstream schema change (renamed/retyped columns) and drafts a BigQuery SQL adapter to reconcile old and new shapes.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0080" y="2468880"/>
            <a:ext cx="5257800" cy="1783080"/>
          </a:xfrm>
          <a:prstGeom prst="roundRect">
            <a:avLst>
              <a:gd name="adj" fmla="val 3590"/>
            </a:avLst>
          </a:prstGeom>
          <a:solidFill>
            <a:srgbClr val="F3F7F7"/>
          </a:solidFill>
          <a:ln w="12700">
            <a:solidFill>
              <a:srgbClr val="DCE6E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1248" y="2596896"/>
            <a:ext cx="4855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841248" y="2889504"/>
            <a:ext cx="48554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Ticket description (the schema drift details)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Pipeline name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63640" y="2468880"/>
            <a:ext cx="5257800" cy="1783080"/>
          </a:xfrm>
          <a:prstGeom prst="roundRect">
            <a:avLst>
              <a:gd name="adj" fmla="val 3590"/>
            </a:avLst>
          </a:prstGeom>
          <a:solidFill>
            <a:srgbClr val="F3F7F7"/>
          </a:solidFill>
          <a:ln w="12700">
            <a:solidFill>
              <a:srgbClr val="DCE6E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64808" y="2596896"/>
            <a:ext cx="4855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TASK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6464808" y="2889504"/>
            <a:ext cx="48554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the SQL adapter and explain it in 1-2 sentences.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434840"/>
            <a:ext cx="5257800" cy="1783080"/>
          </a:xfrm>
          <a:prstGeom prst="roundRect">
            <a:avLst>
              <a:gd name="adj" fmla="val 3590"/>
            </a:avLst>
          </a:prstGeom>
          <a:solidFill>
            <a:srgbClr val="F3F7F7"/>
          </a:solidFill>
          <a:ln w="12700">
            <a:solidFill>
              <a:srgbClr val="DCE6E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41248" y="4562856"/>
            <a:ext cx="4855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DATA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841248" y="4855464"/>
            <a:ext cx="48554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-- the fix is drafted directly from the incident description.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63640" y="4434840"/>
            <a:ext cx="5257800" cy="1783080"/>
          </a:xfrm>
          <a:prstGeom prst="roundRect">
            <a:avLst>
              <a:gd name="adj" fmla="val 3590"/>
            </a:avLst>
          </a:prstGeom>
          <a:solidFill>
            <a:srgbClr val="F3F7F7"/>
          </a:solidFill>
          <a:ln w="12700">
            <a:solidFill>
              <a:srgbClr val="DCE6E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64808" y="4562856"/>
            <a:ext cx="4855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→ FALLBACK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6464808" y="4855464"/>
            <a:ext cx="48554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A recommendation posted to the ticket log; ticket moves to Awaiting Approval.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Fallback: The known-good COALESCE/SAFE_CAST adapter pattern for this exact incident.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658368" cy="658368"/>
          </a:xfrm>
          <a:prstGeom prst="roundRect">
            <a:avLst>
              <a:gd name="adj" fmla="val 19444"/>
            </a:avLst>
          </a:prstGeom>
          <a:solidFill>
            <a:srgbClr val="FBEEDC"/>
          </a:solidFill>
          <a:ln w="12700">
            <a:solidFill>
              <a:srgbClr val="B36A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⚙️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45720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Compute Doctor Agent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1463040" y="987552"/>
            <a:ext cx="2834640" cy="310896"/>
          </a:xfrm>
          <a:prstGeom prst="roundRect">
            <a:avLst>
              <a:gd name="adj" fmla="val 50000"/>
            </a:avLst>
          </a:prstGeom>
          <a:solidFill>
            <a:srgbClr val="FBEED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463040" y="987552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B3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RECOMMENDATION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9052560" y="10241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11 of 13  ·  gemini-2.5-flash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" y="1444752"/>
            <a:ext cx="10881360" cy="0"/>
          </a:xfrm>
          <a:prstGeom prst="line">
            <a:avLst/>
          </a:prstGeom>
          <a:noFill/>
          <a:ln w="12700">
            <a:solidFill>
              <a:srgbClr val="DCE6E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162763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Diagnoses Spark/Trino/Ray OOM and data-skew failures and recommends a repartition key and memory setting -- gated behind approval since it changes cluster spend.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0080" y="2468880"/>
            <a:ext cx="5257800" cy="1783080"/>
          </a:xfrm>
          <a:prstGeom prst="roundRect">
            <a:avLst>
              <a:gd name="adj" fmla="val 3590"/>
            </a:avLst>
          </a:prstGeom>
          <a:solidFill>
            <a:srgbClr val="F3F7F7"/>
          </a:solidFill>
          <a:ln w="12700">
            <a:solidFill>
              <a:srgbClr val="DCE6E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1248" y="2596896"/>
            <a:ext cx="4855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841248" y="2889504"/>
            <a:ext cx="48554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Ticket description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Pipeline name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63640" y="2468880"/>
            <a:ext cx="5257800" cy="1783080"/>
          </a:xfrm>
          <a:prstGeom prst="roundRect">
            <a:avLst>
              <a:gd name="adj" fmla="val 3590"/>
            </a:avLst>
          </a:prstGeom>
          <a:solidFill>
            <a:srgbClr val="F3F7F7"/>
          </a:solidFill>
          <a:ln w="12700">
            <a:solidFill>
              <a:srgbClr val="DCE6E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64808" y="2596896"/>
            <a:ext cx="4855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TASK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6464808" y="2889504"/>
            <a:ext cx="48554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the likely skew/config cause and recommend a specific fix.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434840"/>
            <a:ext cx="5257800" cy="1783080"/>
          </a:xfrm>
          <a:prstGeom prst="roundRect">
            <a:avLst>
              <a:gd name="adj" fmla="val 3590"/>
            </a:avLst>
          </a:prstGeom>
          <a:solidFill>
            <a:srgbClr val="F3F7F7"/>
          </a:solidFill>
          <a:ln w="12700">
            <a:solidFill>
              <a:srgbClr val="DCE6E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41248" y="4562856"/>
            <a:ext cx="4855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DATA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841248" y="4855464"/>
            <a:ext cx="48554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yet (Phase 2 adds live executor-log reads).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63640" y="4434840"/>
            <a:ext cx="5257800" cy="1783080"/>
          </a:xfrm>
          <a:prstGeom prst="roundRect">
            <a:avLst>
              <a:gd name="adj" fmla="val 3590"/>
            </a:avLst>
          </a:prstGeom>
          <a:solidFill>
            <a:srgbClr val="F3F7F7"/>
          </a:solidFill>
          <a:ln w="12700">
            <a:solidFill>
              <a:srgbClr val="DCE6E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64808" y="4562856"/>
            <a:ext cx="4855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→ FALLBACK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6464808" y="4855464"/>
            <a:ext cx="48554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A recommendation posted to the ticket log; ticket moves to Awaiting Approval.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Fallback: A fixed skew-diagnosis + repartition recommendation.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658368" cy="658368"/>
          </a:xfrm>
          <a:prstGeom prst="roundRect">
            <a:avLst>
              <a:gd name="adj" fmla="val 19444"/>
            </a:avLst>
          </a:prstGeom>
          <a:solidFill>
            <a:srgbClr val="FBEEDC"/>
          </a:solidFill>
          <a:ln w="12700">
            <a:solidFill>
              <a:srgbClr val="B36A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✅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45720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DQ Triage Agent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1463040" y="987552"/>
            <a:ext cx="2834640" cy="310896"/>
          </a:xfrm>
          <a:prstGeom prst="roundRect">
            <a:avLst>
              <a:gd name="adj" fmla="val 50000"/>
            </a:avLst>
          </a:prstGeom>
          <a:solidFill>
            <a:srgbClr val="FBEED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463040" y="987552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B3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RECOMMENDATION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9052560" y="10241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12 of 13  ·  gemini-2.5-flash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" y="1444752"/>
            <a:ext cx="10881360" cy="0"/>
          </a:xfrm>
          <a:prstGeom prst="line">
            <a:avLst/>
          </a:prstGeom>
          <a:noFill/>
          <a:ln w="12700">
            <a:solidFill>
              <a:srgbClr val="DCE6E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162763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Diagnoses dbt test / Great Expectations failures (duplicates, nulls, threshold breaches) and recommends a logic fix.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0080" y="2468880"/>
            <a:ext cx="5257800" cy="1783080"/>
          </a:xfrm>
          <a:prstGeom prst="roundRect">
            <a:avLst>
              <a:gd name="adj" fmla="val 3590"/>
            </a:avLst>
          </a:prstGeom>
          <a:solidFill>
            <a:srgbClr val="F3F7F7"/>
          </a:solidFill>
          <a:ln w="12700">
            <a:solidFill>
              <a:srgbClr val="DCE6E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1248" y="2596896"/>
            <a:ext cx="4855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841248" y="2889504"/>
            <a:ext cx="48554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Ticket description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Table name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63640" y="2468880"/>
            <a:ext cx="5257800" cy="1783080"/>
          </a:xfrm>
          <a:prstGeom prst="roundRect">
            <a:avLst>
              <a:gd name="adj" fmla="val 3590"/>
            </a:avLst>
          </a:prstGeom>
          <a:solidFill>
            <a:srgbClr val="F3F7F7"/>
          </a:solidFill>
          <a:ln w="12700">
            <a:solidFill>
              <a:srgbClr val="DCE6E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64808" y="2596896"/>
            <a:ext cx="4855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TASK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6464808" y="2889504"/>
            <a:ext cx="48554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the root cause of the failing test and recommend a specific fix.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434840"/>
            <a:ext cx="5257800" cy="1783080"/>
          </a:xfrm>
          <a:prstGeom prst="roundRect">
            <a:avLst>
              <a:gd name="adj" fmla="val 3590"/>
            </a:avLst>
          </a:prstGeom>
          <a:solidFill>
            <a:srgbClr val="F3F7F7"/>
          </a:solidFill>
          <a:ln w="12700">
            <a:solidFill>
              <a:srgbClr val="DCE6E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41248" y="4562856"/>
            <a:ext cx="4855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DATA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841248" y="4855464"/>
            <a:ext cx="48554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yet (Phase 2 adds live test-run history correlation).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63640" y="4434840"/>
            <a:ext cx="5257800" cy="1783080"/>
          </a:xfrm>
          <a:prstGeom prst="roundRect">
            <a:avLst>
              <a:gd name="adj" fmla="val 3590"/>
            </a:avLst>
          </a:prstGeom>
          <a:solidFill>
            <a:srgbClr val="F3F7F7"/>
          </a:solidFill>
          <a:ln w="12700">
            <a:solidFill>
              <a:srgbClr val="DCE6E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64808" y="4562856"/>
            <a:ext cx="4855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→ FALLBACK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6464808" y="4855464"/>
            <a:ext cx="48554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A recommendation posted to the ticket log; ticket moves to Awaiting Approval.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Fallback: A fixed dedup-CTE recommendation.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658368" cy="658368"/>
          </a:xfrm>
          <a:prstGeom prst="roundRect">
            <a:avLst>
              <a:gd name="adj" fmla="val 19444"/>
            </a:avLst>
          </a:prstGeom>
          <a:solidFill>
            <a:srgbClr val="FBEEDC"/>
          </a:solidFill>
          <a:ln w="12700">
            <a:solidFill>
              <a:srgbClr val="B36A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🎯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45720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Backfill Planning Agent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1463040" y="987552"/>
            <a:ext cx="2834640" cy="310896"/>
          </a:xfrm>
          <a:prstGeom prst="roundRect">
            <a:avLst>
              <a:gd name="adj" fmla="val 50000"/>
            </a:avLst>
          </a:prstGeom>
          <a:solidFill>
            <a:srgbClr val="FBEED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463040" y="987552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B3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RECOMMENDATION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9052560" y="10241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13 of 13  ·  gemini-2.5-flash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" y="1444752"/>
            <a:ext cx="10881360" cy="0"/>
          </a:xfrm>
          <a:prstGeom prst="line">
            <a:avLst/>
          </a:prstGeom>
          <a:noFill/>
          <a:ln w="12700">
            <a:solidFill>
              <a:srgbClr val="DCE6E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162763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Summarizes a computed blast-radius plan (affected partitions, tables, BigQuery cost) for an on-call engineer to approve -- shared by both the late-arriving-records and urgent-backfill-request categories.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0080" y="2468880"/>
            <a:ext cx="5257800" cy="1783080"/>
          </a:xfrm>
          <a:prstGeom prst="roundRect">
            <a:avLst>
              <a:gd name="adj" fmla="val 3590"/>
            </a:avLst>
          </a:prstGeom>
          <a:solidFill>
            <a:srgbClr val="F3F7F7"/>
          </a:solidFill>
          <a:ln w="12700">
            <a:solidFill>
              <a:srgbClr val="DCE6E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1248" y="2596896"/>
            <a:ext cx="4855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841248" y="2889504"/>
            <a:ext cx="48554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Ticket description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Real blast-radius calculation (backfill_agent.py)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63640" y="2468880"/>
            <a:ext cx="5257800" cy="1783080"/>
          </a:xfrm>
          <a:prstGeom prst="roundRect">
            <a:avLst>
              <a:gd name="adj" fmla="val 3590"/>
            </a:avLst>
          </a:prstGeom>
          <a:solidFill>
            <a:srgbClr val="F3F7F7"/>
          </a:solidFill>
          <a:ln w="12700">
            <a:solidFill>
              <a:srgbClr val="DCE6E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64808" y="2596896"/>
            <a:ext cx="4855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TASK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6464808" y="2889504"/>
            <a:ext cx="48554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 the real plan and recommend approval, citing the exact numbers given.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434840"/>
            <a:ext cx="5257800" cy="1783080"/>
          </a:xfrm>
          <a:prstGeom prst="roundRect">
            <a:avLst>
              <a:gd name="adj" fmla="val 3590"/>
            </a:avLst>
          </a:prstGeom>
          <a:solidFill>
            <a:srgbClr val="F3F7F7"/>
          </a:solidFill>
          <a:ln w="12700">
            <a:solidFill>
              <a:srgbClr val="DCE6E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41248" y="4562856"/>
            <a:ext cx="4855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DATA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841248" y="4855464"/>
            <a:ext cx="48554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deterministic calculation: partition count x bytes-per-partition x downstream-table count, converted to a $/TB-scanned BigQuery cost estimate. Gemini narrates and recommends; it never invents the numbers.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63640" y="4434840"/>
            <a:ext cx="5257800" cy="1783080"/>
          </a:xfrm>
          <a:prstGeom prst="roundRect">
            <a:avLst>
              <a:gd name="adj" fmla="val 3590"/>
            </a:avLst>
          </a:prstGeom>
          <a:solidFill>
            <a:srgbClr val="F3F7F7"/>
          </a:solidFill>
          <a:ln w="12700">
            <a:solidFill>
              <a:srgbClr val="DCE6E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64808" y="4562856"/>
            <a:ext cx="4855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→ FALLBACK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6464808" y="4855464"/>
            <a:ext cx="48554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A recommendation posted to the ticket log; ticket moves to Awaiting Approval.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Fallback: The formatted real plan output, without Gemini's narration layer.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is a framework, not a demo script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15568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FD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files, one clean boundary — that's what makes this replicable into another client's stack.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120640" cy="3931920"/>
          </a:xfrm>
          <a:prstGeom prst="roundRect">
            <a:avLst>
              <a:gd name="adj" fmla="val 2326"/>
            </a:avLst>
          </a:prstGeom>
          <a:solidFill>
            <a:srgbClr val="0F3B41"/>
          </a:solidFill>
          <a:ln w="15875">
            <a:solidFill>
              <a:srgbClr val="02C39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210312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ai_agents.py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542032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9FC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reusable framework — portable to any client with zero ticket-board code.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108960"/>
            <a:ext cx="44805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6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FAILURE_CATALOG: the 14 recognized failure modes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6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AGENT_SPECS: purpose/inputs/decisions for every agent — the source this deck was generated from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6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call_gemini(): the one function every agent goes through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6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13 agent functions, each grounded in real data where it exists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17920" y="1828800"/>
            <a:ext cx="5120640" cy="3931920"/>
          </a:xfrm>
          <a:prstGeom prst="roundRect">
            <a:avLst>
              <a:gd name="adj" fmla="val 2326"/>
            </a:avLst>
          </a:prstGeom>
          <a:solidFill>
            <a:srgbClr val="0F3B41"/>
          </a:solidFill>
          <a:ln w="15875">
            <a:solidFill>
              <a:srgbClr val="00A89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37960" y="210312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ticket_engine.py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2542032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9FC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ticket board wiring — specific to this dashboard, not to Gemini.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537960" y="3108960"/>
            <a:ext cx="44805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6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Ticket / TicketStore: in-memory board state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6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classify_ticket / start_autonomous_fix / start_assisted_analysis / approve_ticket: the 4-stage lifecycle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6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Calls into ai_agents.py at each stage — never contains a prompt itself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59893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9FC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Replicating into a new client: copy ai_agents.py, swap FAILURE_CATALOG for their failure taxonomy, point call_gemini() at their GCP project. The ticket board layer needs no changes.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Status: live today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E1F3EF"/>
          </a:solidFill>
          <a:ln w="12700">
            <a:solidFill>
              <a:srgbClr val="0E6B4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581912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✅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463040" y="1554480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Default Credentials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892808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Configured — Gemini, Secret Manager, GCS, BigQuery all reachable under your account.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65176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E1F3EF"/>
          </a:solidFill>
          <a:ln w="12700">
            <a:solidFill>
              <a:srgbClr val="0E6B4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2816352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✅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2788920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access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3127248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gemini-2.5-flash confirmed working in ctech-flowsentinel-ai / us-central1 — the 1.5/2.0 model IDs are retired in this project.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88620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BEEDC"/>
          </a:solidFill>
          <a:ln w="12700">
            <a:solidFill>
              <a:srgbClr val="B36A0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68680" y="4050792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⏳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1463040" y="4023360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3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PAT for the org repo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4361688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pending org-admin approval — blocks live ticket mirroring and Production Mode's GitHub sync only. Every agent above works without it.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61264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B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ticket log line already shows which engine answered — 🧠 Gemini or 📋 Template — so this transparency ships with the framework, not just this deck.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2026-09-11T00:33:30Z</dcterms:created>
  <dcterms:modified xsi:type="dcterms:W3CDTF">2026-09-11T00:33:30Z</dcterms:modified>
</cp:coreProperties>
</file>